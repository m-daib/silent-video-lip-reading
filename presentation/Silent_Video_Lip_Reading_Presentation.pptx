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Silent Video Lip-Reading Using Deep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Graduation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of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1. Project Objective</a:t>
            </a:r>
          </a:p>
          <a:p>
            <a:pPr/>
            <a:r>
              <a:t>2. Problem Statement</a:t>
            </a:r>
          </a:p>
          <a:p>
            <a:pPr/>
            <a:r>
              <a:t>3. Motivation</a:t>
            </a:r>
          </a:p>
          <a:p>
            <a:pPr/>
            <a:r>
              <a:t>4. System Architecture</a:t>
            </a:r>
          </a:p>
          <a:p>
            <a:pPr/>
            <a:r>
              <a:t>5. Workflow</a:t>
            </a:r>
          </a:p>
          <a:p>
            <a:pPr/>
            <a:r>
              <a:t>6. Technologies Used</a:t>
            </a:r>
          </a:p>
          <a:p>
            <a:pPr/>
            <a:r>
              <a:t>7. Model Pipeline (LipNet)</a:t>
            </a:r>
          </a:p>
          <a:p>
            <a:pPr/>
            <a:r>
              <a:t>8. Face Detection</a:t>
            </a:r>
          </a:p>
          <a:p>
            <a:pPr/>
            <a:r>
              <a:t>9. Lip Extraction</a:t>
            </a:r>
          </a:p>
          <a:p>
            <a:pPr/>
            <a:r>
              <a:t>10. Model Inference</a:t>
            </a:r>
          </a:p>
          <a:p>
            <a:pPr/>
            <a:r>
              <a:t>11. CTC Decoding</a:t>
            </a:r>
          </a:p>
          <a:p>
            <a:pPr/>
            <a:r>
              <a:t>12. Gradio Interface</a:t>
            </a:r>
          </a:p>
          <a:p>
            <a:pPr/>
            <a:r>
              <a:t>13. Testing</a:t>
            </a:r>
          </a:p>
          <a:p>
            <a:pPr/>
            <a:r>
              <a:t>14. Limitations</a:t>
            </a:r>
          </a:p>
          <a:p>
            <a:pPr/>
            <a:r>
              <a:t>15. Future Improvements</a:t>
            </a:r>
          </a:p>
          <a:p>
            <a:pPr/>
            <a:r>
              <a:t>16. Conclusion</a:t>
            </a:r>
          </a:p>
          <a:p>
            <a:pPr/>
            <a:r>
              <a:t>17.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To build an end-to-end silent video lip-reading system using deep learning.</a:t>
            </a:r>
          </a:p>
          <a:p>
            <a:pPr/>
            <a:r>
              <a:t>The system takes silent video as input and outputs the predicted sentence.</a:t>
            </a:r>
          </a:p>
          <a:p>
            <a:pPr/>
            <a:r>
              <a:t>Based on the LipNet architecture and trained on the GRID corpus.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Lip-reading is challenging due to variations in lighting, pose, and speaking style.</a:t>
            </a:r>
          </a:p>
          <a:p>
            <a:pPr/>
            <a:r>
              <a:t>Existing systems often require audio or are limited to highly controlled environments.</a:t>
            </a:r>
          </a:p>
          <a:p>
            <a:pPr/>
            <a:r>
              <a:t>Goal: Create a speaker-independent, audio-free lip-reading system that works in real-world conditions.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Applications in silent environments (e.g., noisy factories, submarines).</a:t>
            </a:r>
          </a:p>
          <a:p>
            <a:pPr/>
            <a:r>
              <a:t>Assistive technology for hearing-impaired individuals.</a:t>
            </a:r>
          </a:p>
          <a:p>
            <a:pPr/>
            <a:r>
              <a:t>Security and surveillance (e.g., reading lips in CCTV footage).</a:t>
            </a:r>
          </a:p>
          <a:p>
            <a:pPr/>
            <a:r>
              <a:t>Human-computer interaction in audio-restricted settings.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Input Video → Frame Extraction</a:t>
            </a:r>
          </a:p>
          <a:p>
            <a:pPr/>
            <a:r>
              <a:t>→ Face Detection (OpenCV Haar Cascades)</a:t>
            </a:r>
          </a:p>
          <a:p>
            <a:pPr/>
            <a:r>
              <a:t>→ Lip ROI Extraction (Heuristic/MediaPipe)</a:t>
            </a:r>
          </a:p>
          <a:p>
            <a:pPr/>
            <a:r>
              <a:t>→ Preprocessing (Resize 64x128, Normalize [0,1])</a:t>
            </a:r>
          </a:p>
          <a:p>
            <a:pPr/>
            <a:r>
              <a:t>→ LipNet Model (Spatiotemporal CNN + Bi-GRU + CTC)</a:t>
            </a:r>
          </a:p>
          <a:p>
            <a:pPr/>
            <a:r>
              <a:t>→ CTC Decoding (Greedy)</a:t>
            </a:r>
          </a:p>
          <a:p>
            <a:pPr/>
            <a:r>
              <a:t>→ Text Output (Predicted Sentence)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1. Video file is uploaded or provided.</a:t>
            </a:r>
          </a:p>
          <a:p>
            <a:pPr/>
            <a:r>
              <a:t>2. Frames are extracted from the video.</a:t>
            </a:r>
          </a:p>
          <a:p>
            <a:pPr/>
            <a:r>
              <a:t>3. Face detection is performed on each frame using OpenCV Haar cascades.</a:t>
            </a:r>
          </a:p>
          <a:p>
            <a:pPr/>
            <a:r>
              <a:t>4. Lip region of interest (ROI) is extracted from the face bounding box.</a:t>
            </a:r>
          </a:p>
          <a:p>
            <a:pPr/>
            <a:r>
              <a:t>5. Lip ROIs are resized to 64x128 pixels and normalized to [0,1].</a:t>
            </a:r>
          </a:p>
          <a:p>
            <a:pPr/>
            <a:r>
              <a:t>6. The sequence of lip ROIs is padded or truncated to a fixed length of 75 frames.</a:t>
            </a:r>
          </a:p>
          <a:p>
            <a:pPr/>
            <a:r>
              <a:t>7. The preprocessed sequence is fed into the LipNet model.</a:t>
            </a:r>
          </a:p>
          <a:p>
            <a:pPr/>
            <a:r>
              <a:t>8. LipNet outputs a sequence of character probabilities over time.</a:t>
            </a:r>
          </a:p>
          <a:p>
            <a:pPr/>
            <a:r>
              <a:t>9. Greedy CTC decoding is applied to convert probabilities to text.</a:t>
            </a:r>
          </a:p>
          <a:p>
            <a:pPr/>
            <a:r>
              <a:t>10. The predicted sentence is displayed to the user.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Language: Python 3.12</a:t>
            </a:r>
          </a:p>
          <a:p>
            <a:pPr/>
            <a:r>
              <a:t>Deep Learning: PyTorch (CPU version due to DLL issues)</a:t>
            </a:r>
          </a:p>
          <a:p>
            <a:pPr/>
            <a:r>
              <a:t>Computer Vision: OpenCV (for video processing and face detection)</a:t>
            </a:r>
          </a:p>
          <a:p>
            <a:pPr/>
            <a:r>
              <a:t>Future Vision: MediaPipe (for accurate lip landmark extraction)</a:t>
            </a:r>
          </a:p>
          <a:p>
            <a:pPr/>
            <a:r>
              <a:t>Web Interface: Gradio (for interactive demo)</a:t>
            </a:r>
          </a:p>
          <a:p>
            <a:pPr/>
            <a:r>
              <a:t>Other: NumPy, Pandas, Matplotlib, Tqdm, Jiwer, Scikit-learn, Editdistance, TensorBoardX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Pipeline (LipNet)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Input: Sequence of lip ROIs (shape: 1 x 3 x 75 x 64 x 128)</a:t>
            </a:r>
          </a:p>
          <a:p>
            <a:pPr/>
            <a:r>
              <a:t>Layers:</a:t>
            </a:r>
          </a:p>
          <a:p>
            <a:pPr/>
            <a:r>
              <a:t>  - Conv3d(3, 32, kernel=(3,5,5), stride=(1,2,2), padding=(1,2,2))</a:t>
            </a:r>
          </a:p>
          <a:p>
            <a:pPr/>
            <a:r>
              <a:t>  - ReLU + Dropout3d + MaxPool3d((1,2,2))</a:t>
            </a:r>
          </a:p>
          <a:p>
            <a:pPr/>
            <a:r>
              <a:t>  - Conv3d(32, 64, kernel=(3,5,5), stride=(1,1,1), padding=(1,2,2))</a:t>
            </a:r>
          </a:p>
          <a:p>
            <a:pPr/>
            <a:r>
              <a:t>  - ReLU + Dropout3d + MaxPool3d((1,2,2))</a:t>
            </a:r>
          </a:p>
          <a:p>
            <a:pPr/>
            <a:r>
              <a:t>  - Conv3d(64, 96, kernel=(3,3,3), stride=(1,1,1), padding=(1,1,1))</a:t>
            </a:r>
          </a:p>
          <a:p>
            <a:pPr/>
            <a:r>
              <a:t>  - ReLU + Dropout3d + MaxPool3d((1,2,2))</a:t>
            </a:r>
          </a:p>
          <a:p>
            <a:pPr/>
            <a:r>
              <a:t>  - GRU(96*4*8, 256, bidirectional=True)</a:t>
            </a:r>
          </a:p>
          <a:p>
            <a:pPr/>
            <a:r>
              <a:t>  - Dropout</a:t>
            </a:r>
          </a:p>
          <a:p>
            <a:pPr/>
            <a:r>
              <a:t>  - GRU(512, 256, bidirectional=True)</a:t>
            </a:r>
          </a:p>
          <a:p>
            <a:pPr/>
            <a:r>
              <a:t>  - Dropout</a:t>
            </a:r>
          </a:p>
          <a:p>
            <a:pPr/>
            <a:r>
              <a:t>  - Linear(512, 28)  # 27 characters (A-Z + space) + 1 blank</a:t>
            </a:r>
          </a:p>
          <a:p>
            <a:pPr/>
            <a:r>
              <a:t>Output: Logits over time steps (shape: 75 x 1 x 28)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Face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Method: OpenCV Haar Cascade Classifier</a:t>
            </a:r>
          </a:p>
          <a:p>
            <a:pPr/>
            <a:r>
              <a:t>Model: haarcascade_frontalface_default.xml</a:t>
            </a:r>
          </a:p>
          <a:p>
            <a:pPr/>
            <a:r>
              <a:t>Process:</a:t>
            </a:r>
          </a:p>
          <a:p>
            <a:pPr/>
            <a:r>
              <a:t>  - Convert frame to grayscale.</a:t>
            </a:r>
          </a:p>
          <a:p>
            <a:pPr/>
            <a:r>
              <a:t>  - Detect faces in the frame.</a:t>
            </a:r>
          </a:p>
          <a:p>
            <a:pPr/>
            <a:r>
              <a:t>  - Select the largest face (by area) if multiple faces are present.</a:t>
            </a:r>
          </a:p>
          <a:p>
            <a:pPr/>
            <a:r>
              <a:t>Limitations:</a:t>
            </a:r>
          </a:p>
          <a:p>
            <a:pPr/>
            <a:r>
              <a:t>  - May fail in poor lighting, non-frontal faces, or occlusions.</a:t>
            </a:r>
          </a:p>
          <a:p>
            <a:pPr/>
            <a:r>
              <a:t>  - Not as accurate as deep learning-based or landmark-based methods.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Lip Extraction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Current Implementation:</a:t>
            </a:r>
          </a:p>
          <a:p>
            <a:pPr/>
            <a:r>
              <a:t>  - Heuristic-based extraction from face bounding box.</a:t>
            </a:r>
          </a:p>
          <a:p>
            <a:pPr/>
            <a:r>
              <a:t>  - Mouth x-range: [face_x + 0.25*face_width, face_x + 0.75*face_width]</a:t>
            </a:r>
          </a:p>
          <a:p>
            <a:pPr/>
            <a:r>
              <a:t>  - Mouth y-range: [face_y + 0.5*face_height, face_y + 0.75*face_height]</a:t>
            </a:r>
          </a:p>
          <a:p>
            <a:pPr/>
            <a:r>
              <a:t>  - This captures the central horizontal strip of the lower half of the face.</a:t>
            </a:r>
          </a:p>
          <a:p>
            <a:pPr/>
            <a:r>
              <a:t>Limitations:</a:t>
            </a:r>
          </a:p>
          <a:p>
            <a:pPr/>
            <a:r>
              <a:t>  - Not accurate for all poses and lighting conditions.</a:t>
            </a:r>
          </a:p>
          <a:p>
            <a:pPr/>
            <a:r>
              <a:t>  - Does not account for individual lip shape or movements.</a:t>
            </a:r>
          </a:p>
          <a:p>
            <a:pPr/>
            <a:r>
              <a:t>Future Improvements:</a:t>
            </a:r>
          </a:p>
          <a:p>
            <a:pPr/>
            <a:r>
              <a:t>  - Use facial landmarks (MediaPipe) to extract precise lip contours.</a:t>
            </a:r>
          </a:p>
          <a:p>
            <a:pPr/>
            <a:r>
              <a:t>  - Apply smoothing and alignment for consistent lip ROIs over time.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Inference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Input: Preprocessed lip ROI sequence (shape: 1 x 3 x 75 x 64 x 128)</a:t>
            </a:r>
          </a:p>
          <a:p>
            <a:pPr/>
            <a:r>
              <a:t>Process:</a:t>
            </a:r>
          </a:p>
          <a:p>
            <a:pPr/>
            <a:r>
              <a:t>  - The lip sequence is passed through the LipNet model.</a:t>
            </a:r>
          </a:p>
          <a:p>
            <a:pPr/>
            <a:r>
              <a:t>  - The model outputs a tensor of shape (75, 1, 28) representing logits over time and characters.</a:t>
            </a:r>
          </a:p>
          <a:p>
            <a:pPr/>
            <a:r>
              <a:t>  - Softmax is applied to convert logits to probabilities (optional for CTC loss).</a:t>
            </a:r>
          </a:p>
          <a:p>
            <a:pPr/>
            <a:r>
              <a:t>Output: Sequence of character probabilities over time.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CTC Decoding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CTC (Connectionist Temporal Classification) allows alignment-free sequence modeling.</a:t>
            </a:r>
          </a:p>
          <a:p>
            <a:pPr/>
            <a:r>
              <a:t>Decoding Steps:</a:t>
            </a:r>
          </a:p>
          <a:p>
            <a:pPr/>
            <a:r>
              <a:t>  1. Apply argmax over the character dimension to get predicted indices for each time step.</a:t>
            </a:r>
          </a:p>
          <a:p>
            <a:pPr/>
            <a:r>
              <a:t>  2. Collapse repeated indices (e.g., [A, A, A, B, B] -&gt; [A, B]).</a:t>
            </a:r>
          </a:p>
          <a:p>
            <a:pPr/>
            <a:r>
              <a:t>  3. Remove blank indices (index 0 corresponds to the blank token).</a:t>
            </a:r>
          </a:p>
          <a:p>
            <a:pPr/>
            <a:r>
              <a:t>  4. Map remaining indices to characters using the vocabulary (A-Z, space).</a:t>
            </a:r>
          </a:p>
          <a:p>
            <a:pPr/>
            <a:r>
              <a:t>Example:</a:t>
            </a:r>
          </a:p>
          <a:p>
            <a:pPr/>
            <a:r>
              <a:t>  Indices: [2, 2, 2, 3, 3, 0, 4, 5, 5] -&gt; [A, A, A, B, B, _, D, E, E]</a:t>
            </a:r>
          </a:p>
          <a:p>
            <a:pPr/>
            <a:r>
              <a:t>  After collapse: [A, B, _, D, E]</a:t>
            </a:r>
          </a:p>
          <a:p>
            <a:pPr/>
            <a:r>
              <a:t>  After removing blanks: [A, B, D, E] -&gt; "ABDE"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Gradio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Features:</a:t>
            </a:r>
          </a:p>
          <a:p>
            <a:pPr/>
            <a:r>
              <a:t>  - Upload a video file (formats supported by OpenCV).</a:t>
            </a:r>
          </a:p>
          <a:p>
            <a:pPr/>
            <a:r>
              <a:t>  - The system extracts lip ROIs and runs inference.</a:t>
            </a:r>
          </a:p>
          <a:p>
            <a:pPr/>
            <a:r>
              <a:t>  - Displays the predicted sentence.</a:t>
            </a:r>
          </a:p>
          <a:p>
            <a:pPr/>
            <a:r>
              <a:t>Interface Components:</a:t>
            </a:r>
          </a:p>
          <a:p>
            <a:pPr/>
            <a:r>
              <a:t>  - Video input component.</a:t>
            </a:r>
          </a:p>
          <a:p>
            <a:pPr/>
            <a:r>
              <a:t>  - Predicted sentence output textbox.</a:t>
            </a:r>
          </a:p>
          <a:p>
            <a:pPr/>
            <a:r>
              <a:t>  - Submit button to trigger processing.</a:t>
            </a:r>
          </a:p>
          <a:p>
            <a:pPr/>
            <a:r>
              <a:t>Future Enhancements:</a:t>
            </a:r>
          </a:p>
          <a:p>
            <a:pPr/>
            <a:r>
              <a:t>  - Display extracted lip ROIs as a video.</a:t>
            </a:r>
          </a:p>
          <a:p>
            <a:pPr/>
            <a:r>
              <a:t>  - Show confidence scores or alternative predictions.</a:t>
            </a:r>
          </a:p>
          <a:p>
            <a:pPr/>
            <a:r>
              <a:t>  - Allow upload of alignment files for ground truth comparison (for known examples).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Unit Tests:</a:t>
            </a:r>
          </a:p>
          <a:p>
            <a:pPr/>
            <a:r>
              <a:t>  - Model loading and forward pass.</a:t>
            </a:r>
          </a:p>
          <a:p>
            <a:pPr/>
            <a:r>
              <a:t>  - Lip extraction function.</a:t>
            </a:r>
          </a:p>
          <a:p>
            <a:pPr/>
            <a:r>
              <a:t>  - Video to lip sequence conversion.</a:t>
            </a:r>
          </a:p>
          <a:p>
            <a:pPr/>
            <a:r>
              <a:t>  - Dataset loading and preprocessing.</a:t>
            </a:r>
          </a:p>
          <a:p>
            <a:pPr/>
            <a:r>
              <a:t>Integration Tests:</a:t>
            </a:r>
          </a:p>
          <a:p>
            <a:pPr/>
            <a:r>
              <a:t>  - One training step (forward, loss, backward, optimizer step).</a:t>
            </a:r>
          </a:p>
          <a:p>
            <a:pPr/>
            <a:r>
              <a:t>  - One validation step.</a:t>
            </a:r>
          </a:p>
          <a:p>
            <a:pPr/>
            <a:r>
              <a:t>  - End-to-end prediction on example data.</a:t>
            </a:r>
          </a:p>
          <a:p>
            <a:pPr/>
            <a:r>
              <a:t>Example Data Testing:</a:t>
            </a:r>
          </a:p>
          <a:p>
            <a:pPr/>
            <a:r>
              <a:t>  - Used two example videos from the GRID corpus (s2/swwp2s and s23/priazn).</a:t>
            </a:r>
          </a:p>
          <a:p>
            <a:pPr/>
            <a:r>
              <a:t>  - Verified lip ROI extraction (75 frames per video).</a:t>
            </a:r>
          </a:p>
          <a:p>
            <a:pPr/>
            <a:r>
              <a:t>  - Verified alignment file parsing.</a:t>
            </a:r>
          </a:p>
          <a:p>
            <a:pPr/>
            <a:r>
              <a:t>  - Model inference runs without errors.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Lip Extraction Accuracy:</a:t>
            </a:r>
          </a:p>
          <a:p>
            <a:pPr/>
            <a:r>
              <a:t>  - Current heuristic-based lip extraction is not accurate enough for meaningful predictions.</a:t>
            </a:r>
          </a:p>
          <a:p>
            <a:pPr/>
            <a:r>
              <a:t>  - This is the main bottleneck for the system's performance.</a:t>
            </a:r>
          </a:p>
          <a:p>
            <a:pPr/>
            <a:r>
              <a:t>Dataset Access:</a:t>
            </a:r>
          </a:p>
          <a:p>
            <a:pPr/>
            <a:r>
              <a:t>  - SSL/TLS handshake failures prevent downloading the full GRID corpus on Windows.</a:t>
            </a:r>
          </a:p>
          <a:p>
            <a:pPr/>
            <a:r>
              <a:t>  - Workaround: Use WSL2, Linux VM, or manual download via browser.</a:t>
            </a:r>
          </a:p>
          <a:p>
            <a:pPr/>
            <a:r>
              <a:t>GPU Utilization:</a:t>
            </a:r>
          </a:p>
          <a:p>
            <a:pPr/>
            <a:r>
              <a:t>  - CUDA-enabled PyTorch fails to load due to DLL issues; falling back to CPU.</a:t>
            </a:r>
          </a:p>
          <a:p>
            <a:pPr/>
            <a:r>
              <a:t>  - Training on the full dataset would be prohibitively slow on CPU.</a:t>
            </a:r>
          </a:p>
          <a:p>
            <a:pPr/>
            <a:r>
              <a:t>Vocabulary:</a:t>
            </a:r>
          </a:p>
          <a:p>
            <a:pPr/>
            <a:r>
              <a:t>  - The model predicts characters from the set: A-Z, space (and blank for CTC).</a:t>
            </a:r>
          </a:p>
          <a:p>
            <a:pPr/>
            <a:r>
              <a:t>  - Note: The GRID corpus spells out numbers (e.g., "ZERO", "ONE"), so the vocabulary is letters only.</a:t>
            </a:r>
          </a:p>
          <a:p>
            <a:pPr/>
            <a:r>
              <a:t>Environmental Variability:</a:t>
            </a:r>
          </a:p>
          <a:p>
            <a:pPr/>
            <a:r>
              <a:t>  - The GRID corpus is highly controlled (consistent lighting, frontal poses).</a:t>
            </a:r>
          </a:p>
          <a:p>
            <a:pPr/>
            <a:r>
              <a:t>  - Performance may degrade significantly on unconstrained videos.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Lip Extraction:</a:t>
            </a:r>
          </a:p>
          <a:p>
            <a:pPr/>
            <a:r>
              <a:t>  - Replace heuristic with MediaPipe-based facial landmark extraction.</a:t>
            </a:r>
          </a:p>
          <a:p>
            <a:pPr/>
            <a:r>
              <a:t>  - Apply smoothing and alignment for consistent lip ROIs over time.</a:t>
            </a:r>
          </a:p>
          <a:p>
            <a:pPr/>
            <a:r>
              <a:t>Dataset:</a:t>
            </a:r>
          </a:p>
          <a:p>
            <a:pPr/>
            <a:r>
              <a:t>  - Obtain the full GRID corpus via alternative download methods.</a:t>
            </a:r>
          </a:p>
          <a:p>
            <a:pPr/>
            <a:r>
              <a:t>  - Consider using preprocessed lip ROIs from the VIPL BaiduYun links (if accessible).</a:t>
            </a:r>
          </a:p>
          <a:p>
            <a:pPr/>
            <a:r>
              <a:t>Training:</a:t>
            </a:r>
          </a:p>
          <a:p>
            <a:pPr/>
            <a:r>
              <a:t>  - Enable GPU training by resolving CUDA PyTorch installation issues.</a:t>
            </a:r>
          </a:p>
          <a:p>
            <a:pPr/>
            <a:r>
              <a:t>  - Train on the full dataset to achieve reported performance.</a:t>
            </a:r>
          </a:p>
          <a:p>
            <a:pPr/>
            <a:r>
              <a:t>Model Enhancements:</a:t>
            </a:r>
          </a:p>
          <a:p>
            <a:pPr/>
            <a:r>
              <a:t>  - Experiment with attention mechanisms or transformer layers.</a:t>
            </a:r>
          </a:p>
          <a:p>
            <a:pPr/>
            <a:r>
              <a:t>  - Investigate bidirectional LSTMs or other sequence models.</a:t>
            </a:r>
          </a:p>
          <a:p>
            <a:pPr/>
            <a:r>
              <a:t>Demo Enhancements:</a:t>
            </a:r>
          </a:p>
          <a:p>
            <a:pPr/>
            <a:r>
              <a:t>  - Add visualization of extracted lip ROIs in the Gradio interface.</a:t>
            </a:r>
          </a:p>
          <a:p>
            <a:pPr/>
            <a:r>
              <a:t>  - Add confidence scores and alternative predictions.</a:t>
            </a:r>
          </a:p>
          <a:p>
            <a:pPr/>
            <a:r>
              <a:t>  - Allow real-time video processing (webcam input).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We have successfully assembled a functional lip-reading pipeline based on the LipNet architecture.</a:t>
            </a:r>
          </a:p>
          <a:p>
            <a:pPr/>
            <a:r>
              <a:t>The system demonstrates the complete workflow from video to text prediction.</a:t>
            </a:r>
          </a:p>
          <a:p>
            <a:pPr/>
            <a:r>
              <a:t>Key achievements:</a:t>
            </a:r>
          </a:p>
          <a:p>
            <a:pPr/>
            <a:r>
              <a:t>  - Environment setup with PyTorch and essential libraries.</a:t>
            </a:r>
          </a:p>
          <a:p>
            <a:pPr/>
            <a:r>
              <a:t>  - Integration of the VIPL LipNet-PyTorch implementation.</a:t>
            </a:r>
          </a:p>
          <a:p>
            <a:pPr/>
            <a:r>
              <a:t>  - Preparation of example data from GRID corpus examples.</a:t>
            </a:r>
          </a:p>
          <a:p>
            <a:pPr/>
            <a:r>
              <a:t>  - Working pipeline from video to text prediction (lip extraction -&gt; model inference -&gt; CTC decoding).</a:t>
            </a:r>
          </a:p>
          <a:p>
            <a:pPr/>
            <a:r>
              <a:t>  - Gradio demo application for interactive lip-reading prediction.</a:t>
            </a:r>
          </a:p>
          <a:p>
            <a:pPr/>
            <a:r>
              <a:t>  - Comprehensive documentation and reports.</a:t>
            </a:r>
          </a:p>
          <a:p>
            <a:pPr/>
            <a:r>
              <a:t>Next Steps:</a:t>
            </a:r>
          </a:p>
          <a:p>
            <a:pPr/>
            <a:r>
              <a:t>  - Obtain the full GRID corpus.</a:t>
            </a:r>
          </a:p>
          <a:p>
            <a:pPr/>
            <a:r>
              <a:t>  - Improve lip extraction accuracy with facial landmarks.</a:t>
            </a:r>
          </a:p>
          <a:p>
            <a:pPr/>
            <a:r>
              <a:t>  - Enable GPU training and conduct proper training on the full dataset.</a:t>
            </a:r>
          </a:p>
          <a:p>
            <a:pPr/>
            <a:r>
              <a:t>  - Evaluate the model using WER, CER, and sentence-level accuracy metrics.</a:t>
            </a:r>
          </a:p>
          <a:p>
            <a:pPr/>
            <a:r>
              <a:t>  - Enhance the demo with visualization and confidence scores.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LipNet Paper:</a:t>
            </a:r>
          </a:p>
          <a:p>
            <a:pPr/>
            <a:r>
              <a:t>  Assael, Y. M., Shillingford, B., Whiteson, S., &amp; de Freitas, N. (2016).</a:t>
            </a:r>
          </a:p>
          <a:p>
            <a:pPr/>
            <a:r>
              <a:t>  LipNet: End-to-End Sentence-level Lipreading.</a:t>
            </a:r>
          </a:p>
          <a:p>
            <a:pPr/>
            <a:r>
              <a:t>  arXiv preprint arXiv:1611.01599.</a:t>
            </a:r>
          </a:p>
          <a:p>
            <a:pPr/>
          </a:p>
          <a:p>
            <a:pPr/>
            <a:r>
              <a:t>GRID Corpus:</a:t>
            </a:r>
          </a:p>
          <a:p>
            <a:pPr/>
            <a:r>
              <a:t>  http://spandh.dcs.shef.ac.uk/gridcorpus/</a:t>
            </a:r>
          </a:p>
          <a:p>
            <a:pPr/>
          </a:p>
          <a:p>
            <a:pPr/>
            <a:r>
              <a:t>VIPL LipNet-PyTorch Implementation:</a:t>
            </a:r>
          </a:p>
          <a:p>
            <a:pPr/>
            <a:r>
              <a:t>  https://github.com/VIPL-Audio-Visual-Speech-Understanding/LipNet-PyTorch</a:t>
            </a:r>
          </a:p>
          <a:p>
            <a:pPr/>
          </a:p>
          <a:p>
            <a:pPr/>
            <a:r>
              <a:t>Other Resources:</a:t>
            </a:r>
          </a:p>
          <a:p>
            <a:pPr/>
            <a:r>
              <a:t>  OpenCV: https://opencv.org/</a:t>
            </a:r>
          </a:p>
          <a:p>
            <a:pPr/>
            <a:r>
              <a:t>  Gradio: https://gradio.app/</a:t>
            </a:r>
          </a:p>
          <a:p>
            <a:pPr/>
            <a:r>
              <a:t>  MediaPipe: https://google.github.io/mediapool/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